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B0F1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6B0F1A"/>
                </a:solidFill>
                <a:latin typeface="Arial"/>
              </a:rPr>
              <a:t>F1 no Teste — 12 Modelos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F1 (%)</c:v>
                </c:pt>
              </c:strCache>
            </c:strRef>
          </c:tx>
          <c:spPr>
            <a:solidFill>
              <a:srgbClr val="BBBBB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C181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4A5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B4A5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B4A52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B4A52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5C1A28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6B0F1A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SMOTE_logistic_reg.</c:v>
                  </c:pt>
                  <c:pt idx="1">
                    <c:v>SMOTE_svm</c:v>
                  </c:pt>
                  <c:pt idx="2">
                    <c:v>Tomek_logistic_reg.</c:v>
                  </c:pt>
                  <c:pt idx="3">
                    <c:v>SMOTE_knn</c:v>
                  </c:pt>
                  <c:pt idx="4">
                    <c:v>Tomek_svm</c:v>
                  </c:pt>
                  <c:pt idx="5">
                    <c:v>Tomek_knn</c:v>
                  </c:pt>
                  <c:pt idx="6">
                    <c:v>Tomek_mlp</c:v>
                  </c:pt>
                  <c:pt idx="7">
                    <c:v>SMOTE_mlp</c:v>
                  </c:pt>
                  <c:pt idx="8">
                    <c:v>SMOTE_random_forest</c:v>
                  </c:pt>
                  <c:pt idx="9">
                    <c:v>SMOTE_xgboost</c:v>
                  </c:pt>
                  <c:pt idx="10">
                    <c:v>Tomek_xgboost</c:v>
                  </c:pt>
                  <c:pt idx="11">
                    <c:v>Tomek_random_forest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75.08</c:v>
                </c:pt>
                <c:pt idx="1">
                  <c:v>78.96</c:v>
                </c:pt>
                <c:pt idx="2">
                  <c:v>79.6</c:v>
                </c:pt>
                <c:pt idx="3">
                  <c:v>82.42</c:v>
                </c:pt>
                <c:pt idx="4">
                  <c:v>81.49</c:v>
                </c:pt>
                <c:pt idx="5">
                  <c:v>86.36</c:v>
                </c:pt>
                <c:pt idx="6">
                  <c:v>93.04</c:v>
                </c:pt>
                <c:pt idx="7">
                  <c:v>93.55</c:v>
                </c:pt>
                <c:pt idx="8">
                  <c:v>93.97</c:v>
                </c:pt>
                <c:pt idx="9">
                  <c:v>94.6</c:v>
                </c:pt>
                <c:pt idx="10">
                  <c:v>94.9</c:v>
                </c:pt>
                <c:pt idx="11">
                  <c:v>95.03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C181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3D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D8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3D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8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A0005"/>
          </a:solidFill>
          <a:ln w="12700">
            <a:solidFill>
              <a:srgbClr val="1A00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🍷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572000" y="822960"/>
            <a:ext cx="4297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 Quality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Classifier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0" y="2651760"/>
            <a:ext cx="1280160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278892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Classificação Inteligente de Vinhos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Machine Learning e MLOps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37033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Botero · Hanna Souza · José Henrique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40690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ML | Maio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Visão Geral do Projeto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149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0120" y="13075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 vinhos em "Bom" ou "Ruim" com acurácia &gt;85%, usando 11 atributos físico-químicos e o tipo do vinho.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21031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7744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1579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Desafio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60120" y="24505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Desbalanceamento crítico: ~93% dos dados nas notas 5–7. Classificação multiclasse original limitada a F1 ≈ 62–63%.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65760" y="32461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52044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33009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Solução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60120" y="35935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Binarização com threshold 7 + SMOTE e TomekLinks + 6 algoritmos = 12 modelos comparados automaticamente via MLflow.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846320" y="960120"/>
            <a:ext cx="3931920" cy="100584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846320" y="101498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95.08%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484632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· Teste (hold-out)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46320" y="2103120"/>
            <a:ext cx="3931920" cy="100584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846320" y="215798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95.03%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484632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Teste  |  87.43% F1 Val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846320" y="3246120"/>
            <a:ext cx="3931920" cy="100584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846320" y="330098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Tomek+RF</a:t>
            </a:r>
            <a:endParaRPr lang="en-US" sz="2800" dirty="0"/>
          </a:p>
        </p:txBody>
      </p:sp>
      <p:sp>
        <p:nvSpPr>
          <p:cNvPr id="24" name="Text 19"/>
          <p:cNvSpPr/>
          <p:nvPr/>
        </p:nvSpPr>
        <p:spPr>
          <a:xfrm>
            <a:off x="4846320" y="3840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Campeão (@champion)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e Engenharia de Atributos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4864" cy="80467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144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207008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6.497 amostras: ~1.599 tintos + ~4.898 brancos. 11 atributos físico-químicos + tipo do vinho.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54864" cy="80467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9019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Desbalanceamento Crítico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194560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5, 6 e 7 = ~93% dos dados. Binarização (≥7 → Bom) gerou +33pp de F1 imediato.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889504"/>
            <a:ext cx="54864" cy="80467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8895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Variabilidade por Tipo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3182112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Brancos: maior açúcar residual e SO₂. Tintos: maior acidez volátil e sulfatos → One-Hot Encoding obrigatório.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877056"/>
            <a:ext cx="54864" cy="80467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8770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416966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features totais: 11 físico-químicas + type_red + type_white. StandardScaler fitado só no treino.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0" y="914400"/>
            <a:ext cx="3840480" cy="3931920"/>
          </a:xfrm>
          <a:prstGeom prst="rect">
            <a:avLst/>
          </a:prstGeom>
          <a:solidFill>
            <a:srgbClr val="FAF8F5"/>
          </a:solidFill>
          <a:ln w="6350">
            <a:solidFill>
              <a:srgbClr val="E0D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Correlação com Qualidade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0" y="1344168"/>
            <a:ext cx="7315" cy="344728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389888"/>
            <a:ext cx="91440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Álcool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0" y="1516232"/>
            <a:ext cx="1207008" cy="23325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58784" y="1389888"/>
            <a:ext cx="384048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83480" y="1875826"/>
            <a:ext cx="91440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0" y="2002170"/>
            <a:ext cx="685800" cy="23325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37576" y="1875826"/>
            <a:ext cx="384048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83480" y="2361765"/>
            <a:ext cx="91440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Cítrico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0" y="2488109"/>
            <a:ext cx="246888" cy="23325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98664" y="2361765"/>
            <a:ext cx="384048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+0.09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83480" y="2847703"/>
            <a:ext cx="91440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Cloretos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05472" y="2974047"/>
            <a:ext cx="109728" cy="23325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2847703"/>
            <a:ext cx="384048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83480" y="3333641"/>
            <a:ext cx="91440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Dióx.Enxofre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21424" y="3459985"/>
            <a:ext cx="493776" cy="23325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333641"/>
            <a:ext cx="384048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-0.18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83480" y="3819579"/>
            <a:ext cx="91440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64808" y="3945923"/>
            <a:ext cx="850392" cy="233250"/>
          </a:xfrm>
          <a:prstGeom prst="rect">
            <a:avLst/>
          </a:prstGeom>
          <a:solidFill>
            <a:srgbClr val="A06040"/>
          </a:solidFill>
          <a:ln w="12700">
            <a:solidFill>
              <a:srgbClr val="A060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44184" y="3819579"/>
            <a:ext cx="384048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-0.31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83480" y="4305518"/>
            <a:ext cx="91440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Acidez Vol.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74536" y="4431862"/>
            <a:ext cx="740664" cy="233250"/>
          </a:xfrm>
          <a:prstGeom prst="rect">
            <a:avLst/>
          </a:prstGeom>
          <a:solidFill>
            <a:srgbClr val="A06040"/>
          </a:solidFill>
          <a:ln w="12700">
            <a:solidFill>
              <a:srgbClr val="A06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53912" y="4305518"/>
            <a:ext cx="384048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Estratégia de Classificação Binária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749040" cy="3749040"/>
          </a:xfrm>
          <a:prstGeom prst="rect">
            <a:avLst/>
          </a:prstGeom>
          <a:solidFill>
            <a:srgbClr val="F0E8E0"/>
          </a:solidFill>
          <a:ln w="12700">
            <a:solidFill>
              <a:srgbClr val="D4B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3749040" cy="457200"/>
          </a:xfrm>
          <a:prstGeom prst="rect">
            <a:avLst/>
          </a:prstGeom>
          <a:solidFill>
            <a:srgbClr val="A06040"/>
          </a:solidFill>
          <a:ln w="12700">
            <a:solidFill>
              <a:srgbClr val="A06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— Multiclasse (3–9)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3 a 9 como classes distintas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~93% dos dados nas notas 5, 6 e 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5915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4: apenas 49 amostras no teste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9806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de apenas 32% nas classes raras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3697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médio ≈ 62–63% (melhor modelo)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60520" y="2468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963E"/>
                </a:solidFill>
              </a:rPr>
              <a:t>→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983480" y="914400"/>
            <a:ext cx="3794760" cy="3749040"/>
          </a:xfrm>
          <a:prstGeom prst="rect">
            <a:avLst/>
          </a:prstGeom>
          <a:solidFill>
            <a:srgbClr val="F5F0EA"/>
          </a:solidFill>
          <a:ln w="19050">
            <a:solidFill>
              <a:srgbClr val="B896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83480" y="914400"/>
            <a:ext cx="3794760" cy="45720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9144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AGORA — Binário (threshold = 7)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66360" y="148132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Ruim (nota &lt; 7)  |  1 = Bom (nota ≥ 7)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66360" y="192024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com volume suficiente para aprendizado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66360" y="235915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Fronteiras de decisão limpas e coesas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279806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CASE WHEN quality &lt; 7 THEN 0 ELSE 1 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323697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de 95.03% com Tomek + Random Forest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real: +33 pontos percentuais de F1 (de ~62% multiclasse → 95% binário)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65960" cy="41148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978408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32588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13716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1645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+ 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Supabase Postgres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2240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&amp; Features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0320" y="914400"/>
            <a:ext cx="1965960" cy="41148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978408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60320" y="132588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560320" y="13716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560320" y="1645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560320" y="2240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754880" y="914400"/>
            <a:ext cx="1965960" cy="41148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978408"/>
            <a:ext cx="256032" cy="25603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754880" y="132588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4754880" y="13716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Tracking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754880" y="1645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DagsHub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754880" y="2240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6949440" y="914400"/>
            <a:ext cx="1965960" cy="41148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260" y="978408"/>
            <a:ext cx="256032" cy="25603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949440" y="132588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6949440" y="13716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Modelagem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949440" y="1645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XGBoost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949440" y="2240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Algoritmos · 12 Modelos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365760" y="2834640"/>
            <a:ext cx="2606040" cy="41148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1620" y="2898648"/>
            <a:ext cx="256032" cy="256032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365760" y="324612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365760" y="3291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Balanc.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365760" y="3566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TomekLinks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65760" y="4160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imbalanced-learn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3200400" y="2834640"/>
            <a:ext cx="2606040" cy="41148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6260" y="2898648"/>
            <a:ext cx="256032" cy="256032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3200400" y="324612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Text 29"/>
          <p:cNvSpPr/>
          <p:nvPr/>
        </p:nvSpPr>
        <p:spPr>
          <a:xfrm>
            <a:off x="3200400" y="3291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3200400" y="3566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abas)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3200400" y="4160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 · Comparação · Histórico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6035040" y="2834640"/>
            <a:ext cx="2606040" cy="41148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0" y="2898648"/>
            <a:ext cx="256032" cy="256032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6035040" y="324612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Text 34"/>
          <p:cNvSpPr/>
          <p:nvPr/>
        </p:nvSpPr>
        <p:spPr>
          <a:xfrm>
            <a:off x="6035040" y="3291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6035040" y="3566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Render</a:t>
            </a:r>
            <a:endParaRPr lang="en-US" sz="1100" dirty="0"/>
          </a:p>
        </p:txBody>
      </p:sp>
      <p:sp>
        <p:nvSpPr>
          <p:cNvPr id="45" name="Text 36"/>
          <p:cNvSpPr/>
          <p:nvPr/>
        </p:nvSpPr>
        <p:spPr>
          <a:xfrm>
            <a:off x="6035040" y="4160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Hospedagem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Dados (DVC)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658368"/>
          </a:xfrm>
          <a:prstGeom prst="rect">
            <a:avLst/>
          </a:prstGeom>
          <a:solidFill>
            <a:srgbClr val="F0E8E0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966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7101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do Supabase (Postgres) ou Kaggle (fallback). Normaliza colunas → data/raw/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6367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963E"/>
                </a:solidFill>
              </a:rPr>
              <a:t>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114800" cy="658368"/>
          </a:xfrm>
          <a:prstGeom prst="rect">
            <a:avLst/>
          </a:prstGeom>
          <a:solidFill>
            <a:srgbClr val="F0E8E0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653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3969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binariza o target via SQL. Salva data/processed/wine_processed.parquet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50545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963E"/>
                </a:solidFill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4114800" cy="658368"/>
          </a:xfrm>
          <a:prstGeom prst="rect">
            <a:avLst/>
          </a:prstGeom>
          <a:solidFill>
            <a:srgbClr val="F0E8E0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340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 DATA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00837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estratificado 60/20/20 (random_state=42). Gera train, val e test parquets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3741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963E"/>
                </a:solidFill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4114800" cy="658368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027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87705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modelos treinados. Registra no MLflow. Campeão promovido como @champion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424281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963E"/>
                </a:solidFill>
              </a:rPr>
              <a:t>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434840"/>
            <a:ext cx="4114800" cy="658368"/>
          </a:xfrm>
          <a:prstGeom prst="rect">
            <a:avLst/>
          </a:prstGeom>
          <a:solidFill>
            <a:srgbClr val="F0E8E0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714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74573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12 avaliados no test set puro. Gera evaluation_report.json e curvas ROC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960120"/>
            <a:ext cx="3977640" cy="393192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0058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Benefícios do DVC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83480" y="1444752"/>
            <a:ext cx="3611880" cy="2743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Reprodutibilidade Total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18105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repro reconstrói o pipeline do zero detectando mudanças por hash dos inputs.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304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Versionamento de Dados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2560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Parquets e modelos rastreados — qualquer estado anterior pode ser restaurado.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30540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MLflow + DagsHub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310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remoto com colaboração distribuída quando credenciais configuradas.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8039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Fallback Inteligente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40599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DagsHub → MLflow local. Sem MLflow → JSON estático em reports/.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Treinamento e Seleção de Modelos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Algoritmos Avaliados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0120" y="131673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Random Forest, KNN, SVM, XGBoost e MLP — cobrindo abordagens lineares, ensemble e redes neurais.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2212848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328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2860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Estratégias de Balanceamento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60120" y="261518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(oversampling sintético) e TomekLinks (undersampling por limpeza de fronteira) → 12 combinações treinadas.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65760" y="3511296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31336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358444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Métrica de Seleção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60120" y="391363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Ponderado como critério principal, registrado por run no MLflow. Campeão recebe alias @champion no Model Registry.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846320" y="914400"/>
            <a:ext cx="3931920" cy="393192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846320" y="9692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&amp; Métricas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029200" y="1435608"/>
            <a:ext cx="3566160" cy="2743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02920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treino/val/teste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713232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20 / 20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029200" y="2084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estratificado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132320" y="2084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5029200" y="26151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F1 (seleção)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7132320" y="26151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87.43% ✓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029200" y="31455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 (resultado)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7132320" y="31455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95.03% ✓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5029200" y="3675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runs MLflow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7132320" y="36758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modelos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Multiclasse vs Binário — Comparativo Real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Mesmos algoritmos, dados e estratégias de balanceamento — única diferença é a definição do target.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15568"/>
          <a:ext cx="8412480" cy="3200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89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89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Multiclasse 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89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Binário 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89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0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Tomek_random_forest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6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6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+32.73pp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Tomek_xgboost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59.71%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6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6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+35.19pp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SMOTE_xgboost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57.69%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6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6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+36.91pp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SMOTE_random_forest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58.80%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6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6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+35.17pp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Tomek_logistic_reg.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6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79.60%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6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+20.62pp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SMOTE_logistic_reg.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55.42%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6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6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+19.66pp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F0E8E0"/>
          </a:solidFill>
          <a:ln w="6350">
            <a:solidFill>
              <a:srgbClr val="B896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5079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Multiclasse falha nas classes raras (nota 4: F1=32%). Binário cria blocos coesos e eleva o ganho médio para +35pp.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no Teste (Dados Não Vistos)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UI exibe métricas de validação (usadas na seleção do modelo). As métricas abaixo são do conjunto de TESTE — nunca visto durante treino ou validação.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" cy="105156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3268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🥇 95.03%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Tomek + Random Forest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910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Campeão (@champion). Alta robustez e generalização no teste puro.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54864" cy="105156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945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🥈 94.90%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Tomek + XGBoost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8529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muito próximo — captura interações não lineares.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438144"/>
            <a:ext cx="54864" cy="105156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5643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🥉 94.60%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38770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SMOTE + XGBoost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com oversampling sintético — performance consistente.</a:t>
            </a:r>
            <a:endParaRPr lang="en-US" sz="10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892040" y="868680"/>
          <a:ext cx="38862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de Deploy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15768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43584" y="1097280"/>
            <a:ext cx="960120" cy="960120"/>
          </a:xfrm>
          <a:prstGeom prst="oval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123444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176272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75488" y="2633472"/>
            <a:ext cx="24963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abas: Predição (sliders + probabilidades), Comparação (val vs teste, F1 charts) e Histórico (predições salvas no Supabase).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914400"/>
            <a:ext cx="2715768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69664" y="1097280"/>
            <a:ext cx="960120" cy="960120"/>
          </a:xfrm>
          <a:prstGeom prst="oval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824" y="1234440"/>
            <a:ext cx="685800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176272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+ Render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01568" y="2633472"/>
            <a:ext cx="24963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Containerização completa via Docker. Deploy hospedado no Render com variáveis de ambiente injetadas via .env.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914400"/>
            <a:ext cx="2715768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95744" y="1097280"/>
            <a:ext cx="960120" cy="960120"/>
          </a:xfrm>
          <a:prstGeom prst="oval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1234440"/>
            <a:ext cx="685800" cy="685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176272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27648" y="2633472"/>
            <a:ext cx="24963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verdade dos dados de treino e backbone operacional: registra cada predição da UI via supabase_logger.py.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65760" y="4526280"/>
            <a:ext cx="8412480" cy="475488"/>
          </a:xfrm>
          <a:prstGeom prst="rect">
            <a:avLst/>
          </a:prstGeom>
          <a:solidFill>
            <a:srgbClr val="F0E8E0"/>
          </a:solidFill>
          <a:ln w="6350">
            <a:solidFill>
              <a:srgbClr val="B8963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02920" y="455371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"Arquitetura desacoplada: Streamlit consome joblib diretamente — sem backend extra. Supabase centraliza dados e auditoria."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Está Sendo Feito Agora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15768" cy="50292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98755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9418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Operação &amp; MLOps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417320"/>
            <a:ext cx="2715768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0352" y="1664208"/>
            <a:ext cx="73152" cy="7315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15727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único treino/inferência via DVC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30352" y="2258568"/>
            <a:ext cx="73152" cy="7315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1671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 por experimento (dados + modelos)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0352" y="2852928"/>
            <a:ext cx="73152" cy="7315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27614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completo com MLflow + DagsHub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91840" y="914400"/>
            <a:ext cx="2715768" cy="50292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987552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49040" y="9418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Monitoramento de Modelo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291840" y="1417320"/>
            <a:ext cx="2715768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456432" y="1664208"/>
            <a:ext cx="73152" cy="7315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39312" y="15727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 para drift de features e predições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456432" y="2258568"/>
            <a:ext cx="73152" cy="7315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39312" y="21671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planejados por F1, Recall e AUC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456432" y="2852928"/>
            <a:ext cx="73152" cy="7315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639312" y="27614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de re-treino via CI/CD (GitHub Actions)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217920" y="914400"/>
            <a:ext cx="2715768" cy="50292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987552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675120" y="9418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Expansão &amp; Qualidade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217920" y="1417320"/>
            <a:ext cx="2715768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382512" y="1664208"/>
            <a:ext cx="73152" cy="7315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565392" y="15727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Ampliação da base com novas safras/regiões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382512" y="2258568"/>
            <a:ext cx="73152" cy="7315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565392" y="21671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qualidade dos dados na ingestão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382512" y="2852928"/>
            <a:ext cx="73152" cy="7315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565392" y="27614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como fonte de verdade centralizada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658368" cy="1719072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57276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3856" y="1005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Monitoramento de Drift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33856" y="138988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ou Alibi Detect para drift de features e predições em produção, com alertas automáticos.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46320" y="914400"/>
            <a:ext cx="411480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914400"/>
            <a:ext cx="658368" cy="1719072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98755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57276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14416" y="1005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+ Re-treino Automático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614416" y="138988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para re-treino ao detectar drift, com rollback automático via MLflow Registry.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65760" y="2834640"/>
            <a:ext cx="411480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2834640"/>
            <a:ext cx="658368" cy="1719072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65760" y="290779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49300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33856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Expansão do Dataset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33856" y="331012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safras e regiões para melhorar generalização e cobrir melhor os perfis extremos de qualidade.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846320" y="2834640"/>
            <a:ext cx="411480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46320" y="2834640"/>
            <a:ext cx="658368" cy="1719072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846320" y="290779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493008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14416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Explicabilidade (SHAP)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614416" y="331012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integrados na UI do Streamlit para transparência e confiança na tomada de decisão.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0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A0005"/>
          </a:solidFill>
          <a:ln w="12700">
            <a:solidFill>
              <a:srgbClr val="1A00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🍷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0" y="109728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Obrigado!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669280" y="2057400"/>
            <a:ext cx="1371600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22128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Dúvidas?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0" y="28346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GitHub: github.com/frpbotero/wine_quality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318211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Deploy: Render (Streamlit + Docker)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352958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Tracking: DagsHub / MLflow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387705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Dados: Supabase PostgreSQL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4663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7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Botero · Hanna Souza · José Henrique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2026-05-09T11:37:25Z</dcterms:created>
  <dcterms:modified xsi:type="dcterms:W3CDTF">2026-05-09T11:37:25Z</dcterms:modified>
</cp:coreProperties>
</file>